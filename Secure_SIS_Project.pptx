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1675"/>
  <p:notesSz cx="6858000" cy="12191675"/>
  <p:embeddedFontLst>
    <p:embeddedFont>
      <p:font typeface="Play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hiwGILhFXYpdmb1IrT64Mw1Pj6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regular.fntdata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7955280" y="0"/>
            <a:ext cx="4224528" cy="6858000"/>
          </a:xfrm>
          <a:prstGeom prst="rect">
            <a:avLst/>
          </a:prstGeom>
          <a:solidFill>
            <a:srgbClr val="17324D"/>
          </a:solidFill>
          <a:ln cap="flat" cmpd="sng" w="12700">
            <a:solidFill>
              <a:srgbClr val="173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686800" y="1051560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0"/>
              <a:buFont typeface="Arial"/>
              <a:buNone/>
            </a:pPr>
            <a:r>
              <a:rPr b="0" i="0" lang="en-US" sz="6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🔐</a:t>
            </a:r>
            <a:endParaRPr b="0" i="0" sz="6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229600" y="2084832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Secure Software Engineering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Course Project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94360" y="1417320"/>
            <a:ext cx="67665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3900"/>
              <a:buFont typeface="Play"/>
              <a:buNone/>
            </a:pPr>
            <a:r>
              <a:rPr b="1" i="0" lang="en-US" sz="3900" u="none" cap="none" strike="noStrike">
                <a:solidFill>
                  <a:srgbClr val="17324D"/>
                </a:solidFill>
                <a:latin typeface="Play"/>
                <a:ea typeface="Play"/>
                <a:cs typeface="Play"/>
                <a:sym typeface="Play"/>
              </a:rPr>
              <a:t>Online Secure Student</a:t>
            </a:r>
            <a:endParaRPr b="0" i="0" sz="3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3900"/>
              <a:buFont typeface="Play"/>
              <a:buNone/>
            </a:pPr>
            <a:r>
              <a:rPr b="1" i="0" lang="en-US" sz="3900" u="none" cap="none" strike="noStrike">
                <a:solidFill>
                  <a:srgbClr val="17324D"/>
                </a:solidFill>
                <a:latin typeface="Play"/>
                <a:ea typeface="Play"/>
                <a:cs typeface="Play"/>
                <a:sym typeface="Play"/>
              </a:rPr>
              <a:t>Information System</a:t>
            </a:r>
            <a:endParaRPr b="0" i="0" sz="3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40080" y="2944368"/>
            <a:ext cx="6583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Managing grades with secure authentication, authorization, auditability, and SDLC controls.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40080" y="3794760"/>
            <a:ext cx="2560320" cy="310896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PMU • Spring 2025-2026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429000" y="3794760"/>
            <a:ext cx="1600200" cy="310896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Team Project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8229600" y="388620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7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DDE7FF"/>
                </a:solidFill>
                <a:latin typeface="Arial"/>
                <a:ea typeface="Arial"/>
                <a:cs typeface="Arial"/>
                <a:sym typeface="Arial"/>
              </a:rPr>
              <a:t>Students • Instructors • Administrators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11480" y="6473952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Secure SIS | Secure Software Engineering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17324D"/>
                </a:solidFill>
                <a:latin typeface="Play"/>
                <a:ea typeface="Play"/>
                <a:cs typeface="Play"/>
                <a:sym typeface="Play"/>
              </a:rPr>
              <a:t>Project Scope &amp; Core Functions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" name="Google Shape;32;p2"/>
          <p:cNvCxnSpPr/>
          <p:nvPr/>
        </p:nvCxnSpPr>
        <p:spPr>
          <a:xfrm>
            <a:off x="502920" y="868680"/>
            <a:ext cx="2377440" cy="0"/>
          </a:xfrm>
          <a:prstGeom prst="straightConnector1">
            <a:avLst/>
          </a:prstGeom>
          <a:noFill/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2"/>
          <p:cNvSpPr/>
          <p:nvPr/>
        </p:nvSpPr>
        <p:spPr>
          <a:xfrm>
            <a:off x="640080" y="1417320"/>
            <a:ext cx="315468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👤  Create account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Secure server-side validation and authorization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434840" y="1417320"/>
            <a:ext cx="315468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✏️  Update account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Secure server-side validation and authorization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229600" y="1417320"/>
            <a:ext cx="315468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🔑  Login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Secure server-side validation and authorization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40080" y="3246120"/>
            <a:ext cx="315468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📊  View grades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Secure server-side validation and authorization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434840" y="3246120"/>
            <a:ext cx="315468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📝  Post grades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Secure server-side validation and authorization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8229600" y="3246120"/>
            <a:ext cx="315468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🔁  Update grades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Secure server-side validation and authorization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85800" y="5486400"/>
            <a:ext cx="10698480" cy="502920"/>
          </a:xfrm>
          <a:prstGeom prst="rect">
            <a:avLst/>
          </a:prstGeom>
          <a:solidFill>
            <a:srgbClr val="E0F2FE"/>
          </a:solidFill>
          <a:ln cap="flat" cmpd="sng" w="1270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Scope focus: protect grade confidentiality and integrity while giving each role only the access it needs.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11480" y="6473952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Secure SIS | Secure Software Engineering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17324D"/>
                </a:solidFill>
                <a:latin typeface="Play"/>
                <a:ea typeface="Play"/>
                <a:cs typeface="Play"/>
                <a:sym typeface="Play"/>
              </a:rPr>
              <a:t>Security Requirements Analysis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" name="Google Shape;48;p3"/>
          <p:cNvCxnSpPr/>
          <p:nvPr/>
        </p:nvCxnSpPr>
        <p:spPr>
          <a:xfrm>
            <a:off x="502920" y="868680"/>
            <a:ext cx="2377440" cy="0"/>
          </a:xfrm>
          <a:prstGeom prst="straightConnector1">
            <a:avLst/>
          </a:prstGeom>
          <a:noFill/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3"/>
          <p:cNvSpPr/>
          <p:nvPr/>
        </p:nvSpPr>
        <p:spPr>
          <a:xfrm>
            <a:off x="777240" y="1234440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2563EB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777240" y="176479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Functional requirements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2834640" y="1234440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0F766E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2834640" y="176479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Security requirements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892040" y="1234440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6A34A"/>
                </a:solidFill>
                <a:latin typeface="Play"/>
                <a:ea typeface="Play"/>
                <a:cs typeface="Play"/>
                <a:sym typeface="Play"/>
              </a:rPr>
              <a:t>7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892040" y="176479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Key assets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6949440" y="1234440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DC2626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949440" y="176479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Identified threats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9006840" y="1234440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F59E0B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9006840" y="176479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Misuse cases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731520" y="2971800"/>
            <a:ext cx="5394960" cy="2148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Top security requirements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Strong authentication and salted password hashes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Role-based and object-level access control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Parameterized SQL and server-side validation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HTTPS, secure cookies, CSRF protection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Audit logs for grade and privilege changes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6400800" y="2971800"/>
            <a:ext cx="5029200" cy="2148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Primary assets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Student grade records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User profiles and credentials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Course enrollments and assignments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Audit logs and application code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Database and backups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11480" y="6473952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Secure SIS | Secure Software Engineering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17324D"/>
                </a:solidFill>
                <a:latin typeface="Play"/>
                <a:ea typeface="Play"/>
                <a:cs typeface="Play"/>
                <a:sym typeface="Play"/>
              </a:rPr>
              <a:t>Risk Matrix: What We Prioritize First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" name="Google Shape;69;p4"/>
          <p:cNvCxnSpPr/>
          <p:nvPr/>
        </p:nvCxnSpPr>
        <p:spPr>
          <a:xfrm>
            <a:off x="502920" y="868680"/>
            <a:ext cx="2377440" cy="0"/>
          </a:xfrm>
          <a:prstGeom prst="straightConnector1">
            <a:avLst/>
          </a:prstGeom>
          <a:noFill/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" name="Google Shape;70;p4"/>
          <p:cNvSpPr/>
          <p:nvPr/>
        </p:nvSpPr>
        <p:spPr>
          <a:xfrm>
            <a:off x="685800" y="1298448"/>
            <a:ext cx="1920240" cy="8686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SQL injection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Risk score: 20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2953512" y="1298448"/>
            <a:ext cx="1920240" cy="8686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Brute force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Risk score: 16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5221224" y="1298448"/>
            <a:ext cx="1920240" cy="8686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Broken access control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Risk score: 15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7488936" y="1298448"/>
            <a:ext cx="1920240" cy="8686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Unauthorized grade update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Risk score: 15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9756648" y="1298448"/>
            <a:ext cx="1920240" cy="8686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Session hijacking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Risk score: 12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685800" y="2651760"/>
            <a:ext cx="1920240" cy="8686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XSS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Risk score: 12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2953512" y="2651760"/>
            <a:ext cx="1920240" cy="8686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CSRF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Risk score: 12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5221224" y="2651760"/>
            <a:ext cx="1920240" cy="8686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Data leakage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Risk score: 10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7488936" y="2651760"/>
            <a:ext cx="1920240" cy="8686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DB backup theft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Risk score: 10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9756648" y="2651760"/>
            <a:ext cx="1920240" cy="8686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DoS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Risk score: 8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960120" y="4709160"/>
            <a:ext cx="10287000" cy="868680"/>
          </a:xfrm>
          <a:prstGeom prst="rect">
            <a:avLst/>
          </a:prstGeom>
          <a:solidFill>
            <a:srgbClr val="ECFEFF"/>
          </a:solidFill>
          <a:ln cap="flat" cmpd="sng" w="12700">
            <a:solidFill>
              <a:srgbClr val="67E8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High risks are mitigated early in design and verified in testing. The biggest controls are prepared statements, throttling, complete mediation, and grade-change auditing.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411480" y="6473952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Secure SIS | Secure Software Engineering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17324D"/>
                </a:solidFill>
                <a:latin typeface="Play"/>
                <a:ea typeface="Play"/>
                <a:cs typeface="Play"/>
                <a:sym typeface="Play"/>
              </a:rPr>
              <a:t>Misuse Cases Drive Security Controls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" name="Google Shape;89;p5"/>
          <p:cNvCxnSpPr/>
          <p:nvPr/>
        </p:nvCxnSpPr>
        <p:spPr>
          <a:xfrm>
            <a:off x="502920" y="868680"/>
            <a:ext cx="2377440" cy="0"/>
          </a:xfrm>
          <a:prstGeom prst="straightConnector1">
            <a:avLst/>
          </a:prstGeom>
          <a:noFill/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5"/>
          <p:cNvSpPr/>
          <p:nvPr/>
        </p:nvSpPr>
        <p:spPr>
          <a:xfrm>
            <a:off x="685800" y="1143000"/>
            <a:ext cx="3840480" cy="420624"/>
          </a:xfrm>
          <a:prstGeom prst="rect">
            <a:avLst/>
          </a:prstGeom>
          <a:solidFill>
            <a:srgbClr val="FFF7ED"/>
          </a:solidFill>
          <a:ln cap="flat" cmpd="sng" w="12700">
            <a:solidFill>
              <a:srgbClr val="FDBA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20"/>
              <a:buFont typeface="Arial"/>
              <a:buNone/>
            </a:pPr>
            <a:r>
              <a:rPr b="0" i="0" lang="en-US" sz="16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Login SQL injection</a:t>
            </a:r>
            <a:endParaRPr b="0" i="0" sz="1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6080760" y="1143000"/>
            <a:ext cx="4983480" cy="420624"/>
          </a:xfrm>
          <a:prstGeom prst="rect">
            <a:avLst/>
          </a:prstGeom>
          <a:solidFill>
            <a:srgbClr val="ECFDF5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20"/>
              <a:buFont typeface="Arial"/>
              <a:buNone/>
            </a:pPr>
            <a:r>
              <a:rPr b="0" i="0" lang="en-US" sz="16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Prepared queries + validation</a:t>
            </a:r>
            <a:endParaRPr b="0" i="0" sz="1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828032" y="1207008"/>
            <a:ext cx="640080" cy="292608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685800" y="1892808"/>
            <a:ext cx="3840480" cy="420624"/>
          </a:xfrm>
          <a:prstGeom prst="rect">
            <a:avLst/>
          </a:prstGeom>
          <a:solidFill>
            <a:srgbClr val="FFF7ED"/>
          </a:solidFill>
          <a:ln cap="flat" cmpd="sng" w="12700">
            <a:solidFill>
              <a:srgbClr val="FDBA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20"/>
              <a:buFont typeface="Arial"/>
              <a:buNone/>
            </a:pPr>
            <a:r>
              <a:rPr b="0" i="0" lang="en-US" sz="16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Student changes URL ID</a:t>
            </a:r>
            <a:endParaRPr b="0" i="0" sz="1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6080760" y="1892808"/>
            <a:ext cx="4983480" cy="420624"/>
          </a:xfrm>
          <a:prstGeom prst="rect">
            <a:avLst/>
          </a:prstGeom>
          <a:solidFill>
            <a:srgbClr val="ECFDF5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20"/>
              <a:buFont typeface="Arial"/>
              <a:buNone/>
            </a:pPr>
            <a:r>
              <a:rPr b="0" i="0" lang="en-US" sz="16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Server-side ownership check</a:t>
            </a:r>
            <a:endParaRPr b="0" i="0" sz="1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4828032" y="1956816"/>
            <a:ext cx="640080" cy="292608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685800" y="2642616"/>
            <a:ext cx="3840480" cy="420624"/>
          </a:xfrm>
          <a:prstGeom prst="rect">
            <a:avLst/>
          </a:prstGeom>
          <a:solidFill>
            <a:srgbClr val="FFF7ED"/>
          </a:solidFill>
          <a:ln cap="flat" cmpd="sng" w="12700">
            <a:solidFill>
              <a:srgbClr val="FDBA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20"/>
              <a:buFont typeface="Arial"/>
              <a:buNone/>
            </a:pPr>
            <a:r>
              <a:rPr b="0" i="0" lang="en-US" sz="16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Instructor edits other course</a:t>
            </a:r>
            <a:endParaRPr b="0" i="0" sz="1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6080760" y="2642616"/>
            <a:ext cx="4983480" cy="420624"/>
          </a:xfrm>
          <a:prstGeom prst="rect">
            <a:avLst/>
          </a:prstGeom>
          <a:solidFill>
            <a:srgbClr val="ECFDF5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20"/>
              <a:buFont typeface="Arial"/>
              <a:buNone/>
            </a:pPr>
            <a:r>
              <a:rPr b="0" i="0" lang="en-US" sz="16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Course assignment authorization</a:t>
            </a:r>
            <a:endParaRPr b="0" i="0" sz="1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4828032" y="2706624"/>
            <a:ext cx="640080" cy="292608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685800" y="3392424"/>
            <a:ext cx="3840480" cy="420624"/>
          </a:xfrm>
          <a:prstGeom prst="rect">
            <a:avLst/>
          </a:prstGeom>
          <a:solidFill>
            <a:srgbClr val="FFF7ED"/>
          </a:solidFill>
          <a:ln cap="flat" cmpd="sng" w="12700">
            <a:solidFill>
              <a:srgbClr val="FDBA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20"/>
              <a:buFont typeface="Arial"/>
              <a:buNone/>
            </a:pPr>
            <a:r>
              <a:rPr b="0" i="0" lang="en-US" sz="16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Credential stuffing</a:t>
            </a:r>
            <a:endParaRPr b="0" i="0" sz="1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6080760" y="3392424"/>
            <a:ext cx="4983480" cy="420624"/>
          </a:xfrm>
          <a:prstGeom prst="rect">
            <a:avLst/>
          </a:prstGeom>
          <a:solidFill>
            <a:srgbClr val="ECFDF5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20"/>
              <a:buFont typeface="Arial"/>
              <a:buNone/>
            </a:pPr>
            <a:r>
              <a:rPr b="0" i="0" lang="en-US" sz="16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Rate limiting + monitoring</a:t>
            </a:r>
            <a:endParaRPr b="0" i="0" sz="1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828032" y="3456432"/>
            <a:ext cx="640080" cy="292608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685800" y="4142232"/>
            <a:ext cx="3840480" cy="420624"/>
          </a:xfrm>
          <a:prstGeom prst="rect">
            <a:avLst/>
          </a:prstGeom>
          <a:solidFill>
            <a:srgbClr val="FFF7ED"/>
          </a:solidFill>
          <a:ln cap="flat" cmpd="sng" w="12700">
            <a:solidFill>
              <a:srgbClr val="FDBA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20"/>
              <a:buFont typeface="Arial"/>
              <a:buNone/>
            </a:pPr>
            <a:r>
              <a:rPr b="0" i="0" lang="en-US" sz="16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Stored XSS</a:t>
            </a:r>
            <a:endParaRPr b="0" i="0" sz="1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6080760" y="4142232"/>
            <a:ext cx="4983480" cy="420624"/>
          </a:xfrm>
          <a:prstGeom prst="rect">
            <a:avLst/>
          </a:prstGeom>
          <a:solidFill>
            <a:srgbClr val="ECFDF5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20"/>
              <a:buFont typeface="Arial"/>
              <a:buNone/>
            </a:pPr>
            <a:r>
              <a:rPr b="0" i="0" lang="en-US" sz="16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Output encoding + CSP</a:t>
            </a:r>
            <a:endParaRPr b="0" i="0" sz="1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828032" y="4206240"/>
            <a:ext cx="640080" cy="292608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685800" y="4892040"/>
            <a:ext cx="3840480" cy="420624"/>
          </a:xfrm>
          <a:prstGeom prst="rect">
            <a:avLst/>
          </a:prstGeom>
          <a:solidFill>
            <a:srgbClr val="FFF7ED"/>
          </a:solidFill>
          <a:ln cap="flat" cmpd="sng" w="12700">
            <a:solidFill>
              <a:srgbClr val="FDBA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20"/>
              <a:buFont typeface="Arial"/>
              <a:buNone/>
            </a:pPr>
            <a:r>
              <a:rPr b="0" i="0" lang="en-US" sz="16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CSRF grade update</a:t>
            </a:r>
            <a:endParaRPr b="0" i="0" sz="1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6080760" y="4892040"/>
            <a:ext cx="4983480" cy="420624"/>
          </a:xfrm>
          <a:prstGeom prst="rect">
            <a:avLst/>
          </a:prstGeom>
          <a:solidFill>
            <a:srgbClr val="ECFDF5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20"/>
              <a:buFont typeface="Arial"/>
              <a:buNone/>
            </a:pPr>
            <a:r>
              <a:rPr b="0" i="0" lang="en-US" sz="16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CSRF tokens + SameSite</a:t>
            </a:r>
            <a:endParaRPr b="0" i="0" sz="1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828032" y="4956048"/>
            <a:ext cx="640080" cy="292608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685800" y="89611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Misuse goal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6080760" y="896112"/>
            <a:ext cx="4983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Security response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411480" y="6473952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Secure SIS | Secure Software Engineering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17324D"/>
                </a:solidFill>
                <a:latin typeface="Play"/>
                <a:ea typeface="Play"/>
                <a:cs typeface="Play"/>
                <a:sym typeface="Play"/>
              </a:rPr>
              <a:t>Secure Architecture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p6"/>
          <p:cNvCxnSpPr/>
          <p:nvPr/>
        </p:nvCxnSpPr>
        <p:spPr>
          <a:xfrm>
            <a:off x="502920" y="868680"/>
            <a:ext cx="2377440" cy="0"/>
          </a:xfrm>
          <a:prstGeom prst="straightConnector1">
            <a:avLst/>
          </a:prstGeom>
          <a:noFill/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6"/>
          <p:cNvSpPr/>
          <p:nvPr/>
        </p:nvSpPr>
        <p:spPr>
          <a:xfrm>
            <a:off x="731520" y="1920240"/>
            <a:ext cx="2103120" cy="91440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Browser / UI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secure forms, CSRF token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3291840" y="1920240"/>
            <a:ext cx="2103120" cy="914400"/>
          </a:xfrm>
          <a:prstGeom prst="rect">
            <a:avLst/>
          </a:prstGeom>
          <a:solidFill>
            <a:srgbClr val="F0FDFA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Web App Server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routes + validation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5852160" y="1143000"/>
            <a:ext cx="2103120" cy="914400"/>
          </a:xfrm>
          <a:prstGeom prst="rect">
            <a:avLst/>
          </a:prstGeom>
          <a:solidFill>
            <a:srgbClr val="ECFDF5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Auth Service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password hash + sessions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852160" y="2743200"/>
            <a:ext cx="2103120" cy="914400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Authorization Layer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RBAC + ownership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8549640" y="1920240"/>
            <a:ext cx="2286000" cy="914400"/>
          </a:xfrm>
          <a:prstGeom prst="rect">
            <a:avLst/>
          </a:prstGeom>
          <a:solidFill>
            <a:srgbClr val="FEF2F2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users, courses, grades, logs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1143000" y="4846320"/>
            <a:ext cx="987552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Trust boundaries: Internet → Application → Database. Every boundary gets validation, authentication, authorization, encryption, and logging.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2852928" y="2240280"/>
            <a:ext cx="384048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5440680" y="2240280"/>
            <a:ext cx="347472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8028432" y="2240280"/>
            <a:ext cx="438912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411480" y="6473952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Secure SIS | Secure Software Engineering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17324D"/>
                </a:solidFill>
                <a:latin typeface="Play"/>
                <a:ea typeface="Play"/>
                <a:cs typeface="Play"/>
                <a:sym typeface="Play"/>
              </a:rPr>
              <a:t>Threat Modeling with STRIDE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" name="Google Shape;136;p7"/>
          <p:cNvCxnSpPr/>
          <p:nvPr/>
        </p:nvCxnSpPr>
        <p:spPr>
          <a:xfrm>
            <a:off x="502920" y="868680"/>
            <a:ext cx="2377440" cy="0"/>
          </a:xfrm>
          <a:prstGeom prst="straightConnector1">
            <a:avLst/>
          </a:prstGeom>
          <a:noFill/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7"/>
          <p:cNvSpPr/>
          <p:nvPr/>
        </p:nvSpPr>
        <p:spPr>
          <a:xfrm>
            <a:off x="685800" y="1188720"/>
            <a:ext cx="658368" cy="658368"/>
          </a:xfrm>
          <a:prstGeom prst="rect">
            <a:avLst/>
          </a:prstGeom>
          <a:solidFill>
            <a:srgbClr val="17324D"/>
          </a:solidFill>
          <a:ln cap="flat" cmpd="sng" w="9525">
            <a:solidFill>
              <a:srgbClr val="173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1508760" y="1188720"/>
            <a:ext cx="260604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Spoofing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strong auth + secure sessions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480560" y="1188720"/>
            <a:ext cx="658368" cy="658368"/>
          </a:xfrm>
          <a:prstGeom prst="rect">
            <a:avLst/>
          </a:prstGeom>
          <a:solidFill>
            <a:srgbClr val="17324D"/>
          </a:solidFill>
          <a:ln cap="flat" cmpd="sng" w="9525">
            <a:solidFill>
              <a:srgbClr val="173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303520" y="1188720"/>
            <a:ext cx="260604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Tampering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authorization + audit logs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8275320" y="1188720"/>
            <a:ext cx="658368" cy="658368"/>
          </a:xfrm>
          <a:prstGeom prst="rect">
            <a:avLst/>
          </a:prstGeom>
          <a:solidFill>
            <a:srgbClr val="17324D"/>
          </a:solidFill>
          <a:ln cap="flat" cmpd="sng" w="9525">
            <a:solidFill>
              <a:srgbClr val="173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9098280" y="1188720"/>
            <a:ext cx="260604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Repudiation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tamper-resistant records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685800" y="3017520"/>
            <a:ext cx="658368" cy="658368"/>
          </a:xfrm>
          <a:prstGeom prst="rect">
            <a:avLst/>
          </a:prstGeom>
          <a:solidFill>
            <a:srgbClr val="17324D"/>
          </a:solidFill>
          <a:ln cap="flat" cmpd="sng" w="9525">
            <a:solidFill>
              <a:srgbClr val="173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1508760" y="3017520"/>
            <a:ext cx="260604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Info disclosure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least privilege + encryption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4480560" y="3017520"/>
            <a:ext cx="658368" cy="658368"/>
          </a:xfrm>
          <a:prstGeom prst="rect">
            <a:avLst/>
          </a:prstGeom>
          <a:solidFill>
            <a:srgbClr val="17324D"/>
          </a:solidFill>
          <a:ln cap="flat" cmpd="sng" w="9525">
            <a:solidFill>
              <a:srgbClr val="173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5303520" y="3017520"/>
            <a:ext cx="260604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Denial of service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rate limits + monitoring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8275320" y="3017520"/>
            <a:ext cx="658368" cy="658368"/>
          </a:xfrm>
          <a:prstGeom prst="rect">
            <a:avLst/>
          </a:prstGeom>
          <a:solidFill>
            <a:srgbClr val="17324D"/>
          </a:solidFill>
          <a:ln cap="flat" cmpd="sng" w="9525">
            <a:solidFill>
              <a:srgbClr val="173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9098280" y="3017520"/>
            <a:ext cx="260604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Elevation of privilege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role checks + secure defaults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914400" y="5193792"/>
            <a:ext cx="10332720" cy="594360"/>
          </a:xfrm>
          <a:prstGeom prst="rect">
            <a:avLst/>
          </a:prstGeom>
          <a:solidFill>
            <a:srgbClr val="EEF2FF"/>
          </a:solidFill>
          <a:ln cap="flat" cmpd="sng" w="12700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Data flow model: browser, login controller, grade controller, database, and admin functions. STRIDE threats are mapped to each trust boundary.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11480" y="6473952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Secure SIS | Secure Software Engineering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17324D"/>
                </a:solidFill>
                <a:latin typeface="Play"/>
                <a:ea typeface="Play"/>
                <a:cs typeface="Play"/>
                <a:sym typeface="Play"/>
              </a:rPr>
              <a:t>Security Design Principles Applied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p8"/>
          <p:cNvCxnSpPr/>
          <p:nvPr/>
        </p:nvCxnSpPr>
        <p:spPr>
          <a:xfrm>
            <a:off x="502920" y="868680"/>
            <a:ext cx="2377440" cy="0"/>
          </a:xfrm>
          <a:prstGeom prst="straightConnector1">
            <a:avLst/>
          </a:prstGeom>
          <a:noFill/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8"/>
          <p:cNvSpPr/>
          <p:nvPr/>
        </p:nvSpPr>
        <p:spPr>
          <a:xfrm>
            <a:off x="777240" y="1051560"/>
            <a:ext cx="498348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Least privilege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Minimum role and DB permissions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6263640" y="1051560"/>
            <a:ext cx="4983480" cy="822960"/>
          </a:xfrm>
          <a:prstGeom prst="rect">
            <a:avLst/>
          </a:prstGeom>
          <a:solidFill>
            <a:srgbClr val="F0FDFA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Defense in depth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Controls at every layer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777240" y="2286000"/>
            <a:ext cx="498348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Complete mediation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Authorize every request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6263640" y="2286000"/>
            <a:ext cx="4983480" cy="822960"/>
          </a:xfrm>
          <a:prstGeom prst="rect">
            <a:avLst/>
          </a:prstGeom>
          <a:solidFill>
            <a:srgbClr val="F0FDFA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Secure defaults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New accounts start restricted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777240" y="3520440"/>
            <a:ext cx="498348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Fail securely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Generic errors, no stack traces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6263640" y="3520440"/>
            <a:ext cx="4983480" cy="822960"/>
          </a:xfrm>
          <a:prstGeom prst="rect">
            <a:avLst/>
          </a:prstGeom>
          <a:solidFill>
            <a:srgbClr val="F0FDFA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Separation of duties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Admin, instructor, student boundaries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411480" y="6473952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Secure SIS | Secure Software Engineering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"/>
          <p:cNvSpPr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17324D"/>
                </a:solidFill>
                <a:latin typeface="Play"/>
                <a:ea typeface="Play"/>
                <a:cs typeface="Play"/>
                <a:sym typeface="Play"/>
              </a:rPr>
              <a:t>Secure Login Implementation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173;p9"/>
          <p:cNvCxnSpPr/>
          <p:nvPr/>
        </p:nvCxnSpPr>
        <p:spPr>
          <a:xfrm>
            <a:off x="502920" y="868680"/>
            <a:ext cx="2377440" cy="0"/>
          </a:xfrm>
          <a:prstGeom prst="straightConnector1">
            <a:avLst/>
          </a:prstGeom>
          <a:noFill/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9"/>
          <p:cNvSpPr/>
          <p:nvPr/>
        </p:nvSpPr>
        <p:spPr>
          <a:xfrm>
            <a:off x="640080" y="1143000"/>
            <a:ext cx="3566160" cy="96012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Input validation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Allowlist email format, length limits, password size limits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4343400" y="1143000"/>
            <a:ext cx="3566160" cy="960120"/>
          </a:xfrm>
          <a:prstGeom prst="rect">
            <a:avLst/>
          </a:prstGeom>
          <a:solidFill>
            <a:srgbClr val="ECFDF5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SQL injection defense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SELECT ... WHERE email = ? with bound parameter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8046720" y="1143000"/>
            <a:ext cx="3566160" cy="960120"/>
          </a:xfrm>
          <a:prstGeom prst="rect">
            <a:avLst/>
          </a:prstGeom>
          <a:solidFill>
            <a:srgbClr val="FFF7ED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Authentication safety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Salted hash check, generic errors, session reset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2103120" y="3063240"/>
            <a:ext cx="3566160" cy="960120"/>
          </a:xfrm>
          <a:prstGeom prst="rect">
            <a:avLst/>
          </a:prstGeom>
          <a:solidFill>
            <a:srgbClr val="F0FDFA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CSRF and throttling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CSRF token on POST + lockout after repeated failures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6492240" y="3063240"/>
            <a:ext cx="3566160" cy="960120"/>
          </a:xfrm>
          <a:prstGeom prst="rect">
            <a:avLst/>
          </a:prstGeom>
          <a:solidFill>
            <a:srgbClr val="FEF2F2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Secure session cookies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HttpOnly, SameSite, Secure in production, short lifetime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411480" y="6473952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Secure SIS | Secure Software Engineering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"/>
          <p:cNvSpPr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17324D"/>
                </a:solidFill>
                <a:latin typeface="Play"/>
                <a:ea typeface="Play"/>
                <a:cs typeface="Play"/>
                <a:sym typeface="Play"/>
              </a:rPr>
              <a:t>Secure Testing Plan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" name="Google Shape;187;p10"/>
          <p:cNvCxnSpPr/>
          <p:nvPr/>
        </p:nvCxnSpPr>
        <p:spPr>
          <a:xfrm>
            <a:off x="502920" y="868680"/>
            <a:ext cx="2377440" cy="0"/>
          </a:xfrm>
          <a:prstGeom prst="straightConnector1">
            <a:avLst/>
          </a:prstGeom>
          <a:noFill/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10"/>
          <p:cNvSpPr/>
          <p:nvPr/>
        </p:nvSpPr>
        <p:spPr>
          <a:xfrm>
            <a:off x="685800" y="1234440"/>
            <a:ext cx="516636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Threat tests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10 security tests: one for each identified threat including SQL injection, brute force, broken access control, XSS, CSRF, and DoS.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6309360" y="1234440"/>
            <a:ext cx="516636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Function tests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12 function-level security tests: two tests for each function: create, update, login, view grades, post grades, update grades.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914400" y="3383280"/>
            <a:ext cx="10241280" cy="169164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Acceptance criteria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High risks mitigated and tested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Every protected route enforces server-side authorization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No SQL injection payload changes query logic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All grade changes are audit logged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No sensitive information leaks in errors or logs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411480" y="6473952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Secure SIS | Secure Software Engineering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2026-04-27T07:13:12Z</dcterms:created>
  <dc:creator>Secure SIS Project Team</dc:creator>
</cp:coreProperties>
</file>